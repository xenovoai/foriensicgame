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11480"/>
            <a:ext cx="109728" cy="347472"/>
          </a:xfrm>
          <a:prstGeom prst="rect">
            <a:avLst/>
          </a:prstGeom>
          <a:solidFill>
            <a:srgbClr val="39D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56616"/>
            <a:ext cx="45720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AEBECC"/>
                </a:solidFill>
                <a:latin typeface="Aptos"/>
              </a:defRPr>
            </a:pPr>
            <a:r>
              <a:t>THE SWITCHED SAMPLE  /  WEBSITE BLUEPRINT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685800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AEBECC"/>
                </a:solidFill>
                <a:latin typeface="Aptos"/>
              </a:defRPr>
            </a:pPr>
            <a:r>
              <a:t>FORENSIC MYSTERY EXPERIENCE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19088"/>
            <a:ext cx="64008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39D6C2"/>
                </a:solidFill>
                <a:latin typeface="Aptos"/>
              </a:defRPr>
            </a:pPr>
            <a:r>
              <a:t>01 /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033271"/>
            <a:ext cx="585216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F1F6FA"/>
                </a:solidFill>
                <a:latin typeface="Aptos"/>
              </a:defRPr>
            </a:pPr>
            <a:r>
              <a:t>OUR WEBSITE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64208"/>
            <a:ext cx="566928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39D6C2"/>
                </a:solidFill>
                <a:latin typeface="Aptos"/>
              </a:defRPr>
            </a:pPr>
            <a:r>
              <a:t>A forensic mystery built around one switched sample.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331720"/>
            <a:ext cx="5715000" cy="3584448"/>
          </a:xfrm>
          <a:prstGeom prst="roundRect">
            <a:avLst>
              <a:gd name="adj" fmla="val 12000"/>
            </a:avLst>
          </a:prstGeom>
          <a:solidFill>
            <a:srgbClr val="131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587752"/>
            <a:ext cx="512064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39D6C2"/>
                </a:solidFill>
                <a:latin typeface="Aptos"/>
              </a:defRPr>
            </a:pPr>
            <a:r>
              <a:t>01  /  WELCOME PAGE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944368"/>
            <a:ext cx="507492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F1F6FA"/>
                </a:solidFill>
                <a:latin typeface="Aptos"/>
              </a:defRPr>
            </a:pPr>
            <a:r>
              <a:t>Introduce the mystery: “The Switched Sample.” Let players enter an investigator name and begin.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867912"/>
            <a:ext cx="512064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39D6C2"/>
                </a:solidFill>
                <a:latin typeface="Aptos"/>
              </a:defRPr>
            </a:pPr>
            <a:r>
              <a:t>02  /  GAME DESIGN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4224528"/>
            <a:ext cx="5074920" cy="11155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F1F6FA"/>
                </a:solidFill>
                <a:latin typeface="Aptos"/>
              </a:defRPr>
            </a:pPr>
            <a:r>
              <a:t>Use a dark, modern forensic-lab theme with clear instructions, simple navigation, and a consistent visual style.</a:t>
            </a:r>
          </a:p>
        </p:txBody>
      </p:sp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3246120"/>
            <a:ext cx="2148840" cy="2514600"/>
          </a:xfrm>
          <a:prstGeom prst="rect">
            <a:avLst/>
          </a:prstGeom>
        </p:spPr>
      </p:pic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0848" y="1170432"/>
            <a:ext cx="2514600" cy="205740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6784848" y="1024128"/>
            <a:ext cx="4800600" cy="100584"/>
          </a:xfrm>
          <a:prstGeom prst="rect">
            <a:avLst/>
          </a:prstGeom>
          <a:solidFill>
            <a:srgbClr val="39D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12280" y="914400"/>
            <a:ext cx="475488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F5BE52"/>
                </a:solidFill>
                <a:latin typeface="Aptos"/>
              </a:defRPr>
            </a:pPr>
            <a:r>
              <a:t>CASE FILE  •  ACCESS RESTRICTED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11480"/>
            <a:ext cx="109728" cy="347472"/>
          </a:xfrm>
          <a:prstGeom prst="rect">
            <a:avLst/>
          </a:prstGeom>
          <a:solidFill>
            <a:srgbClr val="39D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56616"/>
            <a:ext cx="45720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AEBECC"/>
                </a:solidFill>
                <a:latin typeface="Aptos"/>
              </a:defRPr>
            </a:pPr>
            <a:r>
              <a:t>THE SWITCHED SAMPLE  /  WEBSITE BLUEPRINT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685800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AEBECC"/>
                </a:solidFill>
                <a:latin typeface="Aptos"/>
              </a:defRPr>
            </a:pPr>
            <a:r>
              <a:t>FORENSIC MYSTERY EXPERIENCE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19088"/>
            <a:ext cx="64008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39D6C2"/>
                </a:solidFill>
                <a:latin typeface="Aptos"/>
              </a:defRPr>
            </a:pPr>
            <a:r>
              <a:t>02 /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024128"/>
            <a:ext cx="6492240" cy="5303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F1F6FA"/>
                </a:solidFill>
                <a:latin typeface="Aptos"/>
              </a:defRPr>
            </a:pPr>
            <a:r>
              <a:t>LEVEL 1 — THE LAB DOOR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09344"/>
            <a:ext cx="685800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AEBECC"/>
                </a:solidFill>
                <a:latin typeface="Aptos"/>
              </a:defRPr>
            </a:pPr>
            <a:r>
              <a:t>Three mini-puzzles stand between the investigator and the lab.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331720"/>
            <a:ext cx="3547872" cy="3493008"/>
          </a:xfrm>
          <a:prstGeom prst="roundRect">
            <a:avLst>
              <a:gd name="adj" fmla="val 12000"/>
            </a:avLst>
          </a:prstGeom>
          <a:solidFill>
            <a:srgbClr val="131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578608"/>
            <a:ext cx="68580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39D6C2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3072384"/>
            <a:ext cx="306324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F1F6FA"/>
                </a:solidFill>
                <a:latin typeface="Aptos"/>
              </a:defRPr>
            </a:pPr>
            <a:r>
              <a:t>SIGN-LANGUAGE PASSWORD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730752"/>
            <a:ext cx="3054096" cy="10607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AEBECC"/>
                </a:solidFill>
                <a:latin typeface="Aptos"/>
              </a:defRPr>
            </a:pPr>
            <a:r>
              <a:t>Four very small children show hand signs for individual letters. Decode the four letters to find the password.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86968" y="5010912"/>
            <a:ext cx="3054096" cy="18288"/>
          </a:xfrm>
          <a:prstGeom prst="rect">
            <a:avLst/>
          </a:prstGeom>
          <a:solidFill>
            <a:srgbClr val="304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" y="5157216"/>
            <a:ext cx="3063240" cy="5303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F5BE52"/>
                </a:solidFill>
                <a:latin typeface="Aptos"/>
              </a:defRPr>
            </a:pPr>
            <a:r>
              <a:t>CLUE is the correct password. Do not show the word in the image.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59" y="2331720"/>
            <a:ext cx="3547872" cy="3493008"/>
          </a:xfrm>
          <a:prstGeom prst="roundRect">
            <a:avLst>
              <a:gd name="adj" fmla="val 12000"/>
            </a:avLst>
          </a:prstGeom>
          <a:solidFill>
            <a:srgbClr val="131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9159" y="2578608"/>
            <a:ext cx="68580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39D6C2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59" y="3072384"/>
            <a:ext cx="306324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F1F6FA"/>
                </a:solidFill>
                <a:latin typeface="Aptos"/>
              </a:defRPr>
            </a:pPr>
            <a:r>
              <a:t>MORSE CODE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59" y="3730752"/>
            <a:ext cx="3054096" cy="10607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AEBECC"/>
                </a:solidFill>
                <a:latin typeface="Aptos"/>
              </a:defRPr>
            </a:pPr>
            <a:r>
              <a:t>Decode the Morse-code clue to reveal the next part of the access key.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09159" y="5010912"/>
            <a:ext cx="3054096" cy="18288"/>
          </a:xfrm>
          <a:prstGeom prst="rect">
            <a:avLst/>
          </a:prstGeom>
          <a:solidFill>
            <a:srgbClr val="304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09159" y="5157216"/>
            <a:ext cx="3063240" cy="5303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F5BE52"/>
                </a:solidFill>
                <a:latin typeface="Aptos"/>
              </a:defRPr>
            </a:pPr>
            <a:r>
              <a:t>Give a hint if the answer is incorrect.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02752" y="2331720"/>
            <a:ext cx="3547872" cy="3493008"/>
          </a:xfrm>
          <a:prstGeom prst="roundRect">
            <a:avLst>
              <a:gd name="adj" fmla="val 12000"/>
            </a:avLst>
          </a:prstGeom>
          <a:solidFill>
            <a:srgbClr val="131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31352" y="2578608"/>
            <a:ext cx="68580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39D6C2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31352" y="3072384"/>
            <a:ext cx="306324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F1F6FA"/>
                </a:solidFill>
                <a:latin typeface="Aptos"/>
              </a:defRPr>
            </a:pPr>
            <a:r>
              <a:t>KEYBOARD RIDDLE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31352" y="3730752"/>
            <a:ext cx="3054096" cy="10607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AEBECC"/>
                </a:solidFill>
                <a:latin typeface="Aptos"/>
              </a:defRPr>
            </a:pPr>
            <a:r>
              <a:t>Solve a short keyboard-based riddle to complete the door verification.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31352" y="5010912"/>
            <a:ext cx="3054096" cy="18288"/>
          </a:xfrm>
          <a:prstGeom prst="rect">
            <a:avLst/>
          </a:prstGeom>
          <a:solidFill>
            <a:srgbClr val="304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31352" y="5157216"/>
            <a:ext cx="3063240" cy="5303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F5BE52"/>
                </a:solidFill>
                <a:latin typeface="Aptos"/>
              </a:defRPr>
            </a:pPr>
            <a:r>
              <a:t>All three answers unlock the lab door.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11480"/>
            <a:ext cx="109728" cy="347472"/>
          </a:xfrm>
          <a:prstGeom prst="rect">
            <a:avLst/>
          </a:prstGeom>
          <a:solidFill>
            <a:srgbClr val="39D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56616"/>
            <a:ext cx="45720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AEBECC"/>
                </a:solidFill>
                <a:latin typeface="Aptos"/>
              </a:defRPr>
            </a:pPr>
            <a:r>
              <a:t>THE SWITCHED SAMPLE  /  WEBSITE BLUEPRINT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685800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AEBECC"/>
                </a:solidFill>
                <a:latin typeface="Aptos"/>
              </a:defRPr>
            </a:pPr>
            <a:r>
              <a:t>FORENSIC MYSTERY EXPERIENCE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19088"/>
            <a:ext cx="64008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39D6C2"/>
                </a:solidFill>
                <a:latin typeface="Aptos"/>
              </a:defRPr>
            </a:pPr>
            <a:r>
              <a:t>03 /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024128"/>
            <a:ext cx="6949440" cy="5303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F1F6FA"/>
                </a:solidFill>
                <a:latin typeface="Aptos"/>
              </a:defRPr>
            </a:pPr>
            <a:r>
              <a:t>INVESTIGATE. THINK. UNLOCK.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768096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AEBECC"/>
                </a:solidFill>
                <a:latin typeface="Aptos"/>
              </a:defRPr>
            </a:pPr>
            <a:r>
              <a:t>Two logic challenges help players test their evidence skills.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304288"/>
            <a:ext cx="5394960" cy="3611880"/>
          </a:xfrm>
          <a:prstGeom prst="roundRect">
            <a:avLst>
              <a:gd name="adj" fmla="val 12000"/>
            </a:avLst>
          </a:prstGeom>
          <a:solidFill>
            <a:srgbClr val="131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596896"/>
            <a:ext cx="475488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39D6C2"/>
                </a:solidFill>
                <a:latin typeface="Aptos"/>
              </a:defRPr>
            </a:pPr>
            <a:r>
              <a:t>LEVEL 2  /  THE SAMPLE ROOM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127248"/>
            <a:ext cx="4663440" cy="9601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F1F6FA"/>
                </a:solidFill>
                <a:latin typeface="Aptos"/>
              </a:defRPr>
            </a:pPr>
            <a:r>
              <a:t>Read clues about the sample tubes and use logic to determine which sample is the real one.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617720"/>
            <a:ext cx="466344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F5BE52"/>
                </a:solidFill>
                <a:latin typeface="Aptos"/>
              </a:defRPr>
            </a:pPr>
            <a:r>
              <a:t>GOAL  •  Choose the correct sample to proceed.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2304288"/>
            <a:ext cx="5257800" cy="3611880"/>
          </a:xfrm>
          <a:prstGeom prst="roundRect">
            <a:avLst>
              <a:gd name="adj" fmla="val 12000"/>
            </a:avLst>
          </a:prstGeom>
          <a:solidFill>
            <a:srgbClr val="131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5392" y="2596896"/>
            <a:ext cx="45720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39D6C2"/>
                </a:solidFill>
                <a:latin typeface="Aptos"/>
              </a:defRPr>
            </a:pPr>
            <a:r>
              <a:t>LEVEL 3  /  SUDOKU CHALLENGE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3127248"/>
            <a:ext cx="4526280" cy="9601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F1F6FA"/>
                </a:solidFill>
                <a:latin typeface="Aptos"/>
              </a:defRPr>
            </a:pPr>
            <a:r>
              <a:t>Complete a 4 × 4 Sudoku grid. Use the correct solution to unlock the next stage.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720840" y="4526280"/>
            <a:ext cx="406907" cy="406907"/>
          </a:xfrm>
          <a:prstGeom prst="rect">
            <a:avLst/>
          </a:prstGeom>
          <a:solidFill>
            <a:srgbClr val="18283A"/>
          </a:solidFill>
          <a:ln w="12700">
            <a:solidFill>
              <a:srgbClr val="304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39127" y="4535424"/>
            <a:ext cx="374904" cy="3749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spcAft>
                <a:spcPts val="700"/>
              </a:spcAft>
              <a:defRPr sz="1500" b="1">
                <a:solidFill>
                  <a:srgbClr val="39D6C2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59752" y="4526280"/>
            <a:ext cx="406907" cy="406907"/>
          </a:xfrm>
          <a:prstGeom prst="rect">
            <a:avLst/>
          </a:prstGeom>
          <a:solidFill>
            <a:srgbClr val="18283A"/>
          </a:solidFill>
          <a:ln w="12700">
            <a:solidFill>
              <a:srgbClr val="304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598663" y="4526280"/>
            <a:ext cx="406907" cy="406907"/>
          </a:xfrm>
          <a:prstGeom prst="rect">
            <a:avLst/>
          </a:prstGeom>
          <a:solidFill>
            <a:srgbClr val="18283A"/>
          </a:solidFill>
          <a:ln w="12700">
            <a:solidFill>
              <a:srgbClr val="304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37575" y="4526280"/>
            <a:ext cx="406907" cy="406907"/>
          </a:xfrm>
          <a:prstGeom prst="rect">
            <a:avLst/>
          </a:prstGeom>
          <a:solidFill>
            <a:srgbClr val="18283A"/>
          </a:solidFill>
          <a:ln w="12700">
            <a:solidFill>
              <a:srgbClr val="304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55863" y="4535424"/>
            <a:ext cx="374904" cy="3749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spcAft>
                <a:spcPts val="700"/>
              </a:spcAft>
              <a:defRPr sz="1500" b="1">
                <a:solidFill>
                  <a:srgbClr val="39D6C2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20840" y="4965192"/>
            <a:ext cx="406907" cy="406907"/>
          </a:xfrm>
          <a:prstGeom prst="rect">
            <a:avLst/>
          </a:prstGeom>
          <a:solidFill>
            <a:srgbClr val="18283A"/>
          </a:solidFill>
          <a:ln w="12700">
            <a:solidFill>
              <a:srgbClr val="304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59752" y="4965192"/>
            <a:ext cx="406907" cy="406907"/>
          </a:xfrm>
          <a:prstGeom prst="rect">
            <a:avLst/>
          </a:prstGeom>
          <a:solidFill>
            <a:srgbClr val="18283A"/>
          </a:solidFill>
          <a:ln w="12700">
            <a:solidFill>
              <a:srgbClr val="304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598663" y="4965192"/>
            <a:ext cx="406907" cy="406907"/>
          </a:xfrm>
          <a:prstGeom prst="rect">
            <a:avLst/>
          </a:prstGeom>
          <a:solidFill>
            <a:srgbClr val="18283A"/>
          </a:solidFill>
          <a:ln w="12700">
            <a:solidFill>
              <a:srgbClr val="304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16951" y="4974336"/>
            <a:ext cx="374904" cy="3749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spcAft>
                <a:spcPts val="700"/>
              </a:spcAft>
              <a:defRPr sz="1500" b="1">
                <a:solidFill>
                  <a:srgbClr val="39D6C2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37575" y="4965192"/>
            <a:ext cx="406907" cy="406907"/>
          </a:xfrm>
          <a:prstGeom prst="rect">
            <a:avLst/>
          </a:prstGeom>
          <a:solidFill>
            <a:srgbClr val="18283A"/>
          </a:solidFill>
          <a:ln w="12700">
            <a:solidFill>
              <a:srgbClr val="304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720840" y="5404104"/>
            <a:ext cx="406907" cy="406907"/>
          </a:xfrm>
          <a:prstGeom prst="rect">
            <a:avLst/>
          </a:prstGeom>
          <a:solidFill>
            <a:srgbClr val="18283A"/>
          </a:solidFill>
          <a:ln w="12700">
            <a:solidFill>
              <a:srgbClr val="304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159752" y="5404104"/>
            <a:ext cx="406907" cy="406907"/>
          </a:xfrm>
          <a:prstGeom prst="rect">
            <a:avLst/>
          </a:prstGeom>
          <a:solidFill>
            <a:srgbClr val="18283A"/>
          </a:solidFill>
          <a:ln w="12700">
            <a:solidFill>
              <a:srgbClr val="304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78040" y="5413248"/>
            <a:ext cx="374904" cy="3749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spcAft>
                <a:spcPts val="700"/>
              </a:spcAft>
              <a:defRPr sz="1500" b="1">
                <a:solidFill>
                  <a:srgbClr val="39D6C2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598663" y="5404104"/>
            <a:ext cx="406907" cy="406907"/>
          </a:xfrm>
          <a:prstGeom prst="rect">
            <a:avLst/>
          </a:prstGeom>
          <a:solidFill>
            <a:srgbClr val="18283A"/>
          </a:solidFill>
          <a:ln w="12700">
            <a:solidFill>
              <a:srgbClr val="304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37575" y="5404104"/>
            <a:ext cx="406907" cy="406907"/>
          </a:xfrm>
          <a:prstGeom prst="rect">
            <a:avLst/>
          </a:prstGeom>
          <a:solidFill>
            <a:srgbClr val="18283A"/>
          </a:solidFill>
          <a:ln w="12700">
            <a:solidFill>
              <a:srgbClr val="304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720840" y="5843016"/>
            <a:ext cx="406907" cy="406907"/>
          </a:xfrm>
          <a:prstGeom prst="rect">
            <a:avLst/>
          </a:prstGeom>
          <a:solidFill>
            <a:srgbClr val="18283A"/>
          </a:solidFill>
          <a:ln w="12700">
            <a:solidFill>
              <a:srgbClr val="304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39127" y="5852160"/>
            <a:ext cx="374904" cy="3749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spcAft>
                <a:spcPts val="700"/>
              </a:spcAft>
              <a:defRPr sz="1500" b="1">
                <a:solidFill>
                  <a:srgbClr val="39D6C2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159752" y="5843016"/>
            <a:ext cx="406907" cy="406907"/>
          </a:xfrm>
          <a:prstGeom prst="rect">
            <a:avLst/>
          </a:prstGeom>
          <a:solidFill>
            <a:srgbClr val="18283A"/>
          </a:solidFill>
          <a:ln w="12700">
            <a:solidFill>
              <a:srgbClr val="304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598663" y="5843016"/>
            <a:ext cx="406907" cy="406907"/>
          </a:xfrm>
          <a:prstGeom prst="rect">
            <a:avLst/>
          </a:prstGeom>
          <a:solidFill>
            <a:srgbClr val="18283A"/>
          </a:solidFill>
          <a:ln w="12700">
            <a:solidFill>
              <a:srgbClr val="304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037575" y="5843016"/>
            <a:ext cx="406907" cy="406907"/>
          </a:xfrm>
          <a:prstGeom prst="rect">
            <a:avLst/>
          </a:prstGeom>
          <a:solidFill>
            <a:srgbClr val="18283A"/>
          </a:solidFill>
          <a:ln w="12700">
            <a:solidFill>
              <a:srgbClr val="304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55863" y="5852160"/>
            <a:ext cx="374904" cy="3749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spcAft>
                <a:spcPts val="700"/>
              </a:spcAft>
              <a:defRPr sz="1500" b="1">
                <a:solidFill>
                  <a:srgbClr val="39D6C2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11480"/>
            <a:ext cx="109728" cy="347472"/>
          </a:xfrm>
          <a:prstGeom prst="rect">
            <a:avLst/>
          </a:prstGeom>
          <a:solidFill>
            <a:srgbClr val="39D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56616"/>
            <a:ext cx="45720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AEBECC"/>
                </a:solidFill>
                <a:latin typeface="Aptos"/>
              </a:defRPr>
            </a:pPr>
            <a:r>
              <a:t>THE SWITCHED SAMPLE  /  WEBSITE BLUEPRINT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685800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AEBECC"/>
                </a:solidFill>
                <a:latin typeface="Aptos"/>
              </a:defRPr>
            </a:pPr>
            <a:r>
              <a:t>FORENSIC MYSTERY EXPERIENCE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19088"/>
            <a:ext cx="64008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39D6C2"/>
                </a:solidFill>
                <a:latin typeface="Aptos"/>
              </a:defRPr>
            </a:pPr>
            <a:r>
              <a:t>04 /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024128"/>
            <a:ext cx="7315200" cy="5303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F1F6FA"/>
                </a:solidFill>
                <a:latin typeface="Aptos"/>
              </a:defRPr>
            </a:pPr>
            <a:r>
              <a:t>FOLLOW THE EVIDENCE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77724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AEBECC"/>
                </a:solidFill>
                <a:latin typeface="Aptos"/>
              </a:defRPr>
            </a:pPr>
            <a:r>
              <a:t>Connect physical clues with a coded message to narrow the suspect list.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286000"/>
            <a:ext cx="5669280" cy="3639312"/>
          </a:xfrm>
          <a:prstGeom prst="roundRect">
            <a:avLst>
              <a:gd name="adj" fmla="val 12000"/>
            </a:avLst>
          </a:prstGeom>
          <a:solidFill>
            <a:srgbClr val="131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2578608"/>
            <a:ext cx="50292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39D6C2"/>
                </a:solidFill>
                <a:latin typeface="Aptos"/>
              </a:defRPr>
            </a:pPr>
            <a:r>
              <a:t>LEVEL 4  /  MATCH THE EVIDENCE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0120" y="3182112"/>
            <a:ext cx="438912" cy="420624"/>
          </a:xfrm>
          <a:prstGeom prst="rect">
            <a:avLst/>
          </a:prstGeom>
          <a:solidFill>
            <a:srgbClr val="18283A"/>
          </a:solidFill>
          <a:ln w="12700">
            <a:solidFill>
              <a:srgbClr val="304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9264" y="3218688"/>
            <a:ext cx="420624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spcAft>
                <a:spcPts val="700"/>
              </a:spcAft>
              <a:defRPr sz="1100" b="1">
                <a:solidFill>
                  <a:srgbClr val="39D6C2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3200400"/>
            <a:ext cx="42976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1F6FA"/>
                </a:solidFill>
                <a:latin typeface="Aptos"/>
              </a:defRPr>
            </a:pPr>
            <a:r>
              <a:t>Fingerprint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0120" y="3840480"/>
            <a:ext cx="438912" cy="420624"/>
          </a:xfrm>
          <a:prstGeom prst="rect">
            <a:avLst/>
          </a:prstGeom>
          <a:solidFill>
            <a:srgbClr val="18283A"/>
          </a:solidFill>
          <a:ln w="12700">
            <a:solidFill>
              <a:srgbClr val="304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9264" y="3877056"/>
            <a:ext cx="420624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spcAft>
                <a:spcPts val="700"/>
              </a:spcAft>
              <a:defRPr sz="1100" b="1">
                <a:solidFill>
                  <a:srgbClr val="39D6C2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3858768"/>
            <a:ext cx="42976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1F6FA"/>
                </a:solidFill>
                <a:latin typeface="Aptos"/>
              </a:defRPr>
            </a:pPr>
            <a:r>
              <a:t>Shoeprint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0120" y="4498848"/>
            <a:ext cx="438912" cy="420624"/>
          </a:xfrm>
          <a:prstGeom prst="rect">
            <a:avLst/>
          </a:prstGeom>
          <a:solidFill>
            <a:srgbClr val="18283A"/>
          </a:solidFill>
          <a:ln w="12700">
            <a:solidFill>
              <a:srgbClr val="304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4535424"/>
            <a:ext cx="420624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spcAft>
                <a:spcPts val="700"/>
              </a:spcAft>
              <a:defRPr sz="1100" b="1">
                <a:solidFill>
                  <a:srgbClr val="39D6C2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4517136"/>
            <a:ext cx="42976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1F6FA"/>
                </a:solidFill>
                <a:latin typeface="Aptos"/>
              </a:defRPr>
            </a:pPr>
            <a:r>
              <a:t>Blue fabric sample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285232"/>
            <a:ext cx="502920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F5BE52"/>
                </a:solidFill>
                <a:latin typeface="Aptos"/>
              </a:defRPr>
            </a:pPr>
            <a:r>
              <a:t>Match each item to Riya, Kabir, or Sana.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65392" y="2286000"/>
            <a:ext cx="4956048" cy="3639312"/>
          </a:xfrm>
          <a:prstGeom prst="roundRect">
            <a:avLst>
              <a:gd name="adj" fmla="val 12000"/>
            </a:avLst>
          </a:prstGeom>
          <a:solidFill>
            <a:srgbClr val="131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0" y="2578608"/>
            <a:ext cx="43891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39D6C2"/>
                </a:solidFill>
                <a:latin typeface="Aptos"/>
              </a:defRPr>
            </a:pPr>
            <a:r>
              <a:t>LEVEL 5  /  THE HIDDEN MESSAGE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3218688"/>
            <a:ext cx="425196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AEBECC"/>
                </a:solidFill>
                <a:latin typeface="Aptos"/>
              </a:defRPr>
            </a:pPr>
            <a:r>
              <a:t>DECODE THE SIGNAL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3657600"/>
            <a:ext cx="4251960" cy="6583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2500" b="1">
                <a:solidFill>
                  <a:srgbClr val="39D6C2"/>
                </a:solidFill>
                <a:latin typeface="Aptos"/>
              </a:defRPr>
            </a:pPr>
            <a:r>
              <a:t>• — •   — —   • • •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0" y="4526280"/>
            <a:ext cx="4251960" cy="18288"/>
          </a:xfrm>
          <a:prstGeom prst="rect">
            <a:avLst/>
          </a:prstGeom>
          <a:solidFill>
            <a:srgbClr val="304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0" y="4736592"/>
            <a:ext cx="4251960" cy="7863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F1F6FA"/>
                </a:solidFill>
                <a:latin typeface="Aptos"/>
              </a:defRPr>
            </a:pPr>
            <a:r>
              <a:t>Decode the Morse-code message and combine it with earlier clues to narrow down the possible suspect.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11480"/>
            <a:ext cx="109728" cy="347472"/>
          </a:xfrm>
          <a:prstGeom prst="rect">
            <a:avLst/>
          </a:prstGeom>
          <a:solidFill>
            <a:srgbClr val="39D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56616"/>
            <a:ext cx="45720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AEBECC"/>
                </a:solidFill>
                <a:latin typeface="Aptos"/>
              </a:defRPr>
            </a:pPr>
            <a:r>
              <a:t>THE SWITCHED SAMPLE  /  WEBSITE BLUEPRINT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685800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AEBECC"/>
                </a:solidFill>
                <a:latin typeface="Aptos"/>
              </a:defRPr>
            </a:pPr>
            <a:r>
              <a:t>FORENSIC MYSTERY EXPERIENCE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19088"/>
            <a:ext cx="64008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39D6C2"/>
                </a:solidFill>
                <a:latin typeface="Aptos"/>
              </a:defRPr>
            </a:pPr>
            <a:r>
              <a:t>05 /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024128"/>
            <a:ext cx="6400800" cy="5303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F1F6FA"/>
                </a:solidFill>
                <a:latin typeface="Aptos"/>
              </a:defRPr>
            </a:pPr>
            <a:r>
              <a:t>FINAL LEVEL — IDENTIFY THE CULPRIT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64008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AEBECC"/>
                </a:solidFill>
                <a:latin typeface="Aptos"/>
              </a:defRPr>
            </a:pPr>
            <a:r>
              <a:t>Bring every clue together and solve the case.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240280"/>
            <a:ext cx="5486400" cy="3611880"/>
          </a:xfrm>
          <a:prstGeom prst="roundRect">
            <a:avLst>
              <a:gd name="adj" fmla="val 12000"/>
            </a:avLst>
          </a:prstGeom>
          <a:solidFill>
            <a:srgbClr val="131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542032"/>
            <a:ext cx="475488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39D6C2"/>
                </a:solidFill>
                <a:latin typeface="Aptos"/>
              </a:defRPr>
            </a:pPr>
            <a:r>
              <a:t>THE FINAL DECISION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063240"/>
            <a:ext cx="4709160" cy="9601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F1F6FA"/>
                </a:solidFill>
                <a:latin typeface="Aptos"/>
              </a:defRPr>
            </a:pPr>
            <a:r>
              <a:t>Review the clues and evidence, then select who switched the sample.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251960"/>
            <a:ext cx="47091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F5BE52"/>
                </a:solidFill>
                <a:latin typeface="Aptos"/>
              </a:defRPr>
            </a:pPr>
            <a:r>
              <a:t>Planned correct suspect: KABIR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983480"/>
            <a:ext cx="470916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AEBECC"/>
                </a:solidFill>
                <a:latin typeface="Aptos"/>
              </a:defRPr>
            </a:pPr>
            <a:r>
              <a:t>Display a “CASE SOLVED” screen after a correct answer.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82512" y="2240280"/>
            <a:ext cx="5138928" cy="3611880"/>
          </a:xfrm>
          <a:prstGeom prst="roundRect">
            <a:avLst>
              <a:gd name="adj" fmla="val 12000"/>
            </a:avLst>
          </a:prstGeom>
          <a:solidFill>
            <a:srgbClr val="131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93408" y="2542032"/>
            <a:ext cx="448056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39D6C2"/>
                </a:solidFill>
                <a:latin typeface="Aptos"/>
              </a:defRPr>
            </a:pPr>
            <a:r>
              <a:t>🏆  FINAL LEADERBOARD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93408" y="3154680"/>
            <a:ext cx="731520" cy="420624"/>
          </a:xfrm>
          <a:prstGeom prst="rect">
            <a:avLst/>
          </a:prstGeom>
          <a:solidFill>
            <a:srgbClr val="18283A"/>
          </a:solidFill>
          <a:ln w="12700">
            <a:solidFill>
              <a:srgbClr val="304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20840" y="3227832"/>
            <a:ext cx="676656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spcAft>
                <a:spcPts val="700"/>
              </a:spcAft>
              <a:defRPr sz="900" b="1">
                <a:solidFill>
                  <a:srgbClr val="AEBECC"/>
                </a:solidFill>
                <a:latin typeface="Aptos"/>
              </a:defRPr>
            </a:pPr>
            <a:r>
              <a:t>RANK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16368" y="3154680"/>
            <a:ext cx="2011680" cy="420624"/>
          </a:xfrm>
          <a:prstGeom prst="rect">
            <a:avLst/>
          </a:prstGeom>
          <a:solidFill>
            <a:srgbClr val="18283A"/>
          </a:solidFill>
          <a:ln w="12700">
            <a:solidFill>
              <a:srgbClr val="304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43800" y="3227832"/>
            <a:ext cx="1956816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spcAft>
                <a:spcPts val="700"/>
              </a:spcAft>
              <a:defRPr sz="900" b="1">
                <a:solidFill>
                  <a:srgbClr val="AEBECC"/>
                </a:solidFill>
                <a:latin typeface="Aptos"/>
              </a:defRPr>
            </a:pPr>
            <a:r>
              <a:t>INVESTIGATOR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738360" y="3154680"/>
            <a:ext cx="1188720" cy="420624"/>
          </a:xfrm>
          <a:prstGeom prst="rect">
            <a:avLst/>
          </a:prstGeom>
          <a:solidFill>
            <a:srgbClr val="18283A"/>
          </a:solidFill>
          <a:ln w="12700">
            <a:solidFill>
              <a:srgbClr val="304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65792" y="3227832"/>
            <a:ext cx="1133856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spcAft>
                <a:spcPts val="700"/>
              </a:spcAft>
              <a:defRPr sz="900" b="1">
                <a:solidFill>
                  <a:srgbClr val="AEBECC"/>
                </a:solidFill>
                <a:latin typeface="Aptos"/>
              </a:defRPr>
            </a:pPr>
            <a:r>
              <a:t>SCORE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93408" y="3657600"/>
            <a:ext cx="731520" cy="393192"/>
          </a:xfrm>
          <a:prstGeom prst="rect">
            <a:avLst/>
          </a:prstGeom>
          <a:solidFill>
            <a:srgbClr val="0A121E"/>
          </a:solidFill>
          <a:ln w="12700">
            <a:solidFill>
              <a:srgbClr val="304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20840" y="3712463"/>
            <a:ext cx="676656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spcAft>
                <a:spcPts val="700"/>
              </a:spcAft>
              <a:defRPr sz="1000" b="0">
                <a:solidFill>
                  <a:srgbClr val="F1F6FA"/>
                </a:solidFill>
                <a:latin typeface="Aptos"/>
              </a:defRPr>
            </a:pPr>
            <a:r>
              <a:t>1st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516368" y="3657600"/>
            <a:ext cx="2011680" cy="393192"/>
          </a:xfrm>
          <a:prstGeom prst="rect">
            <a:avLst/>
          </a:prstGeom>
          <a:solidFill>
            <a:srgbClr val="0A121E"/>
          </a:solidFill>
          <a:ln w="12700">
            <a:solidFill>
              <a:srgbClr val="304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43800" y="3712463"/>
            <a:ext cx="1956816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spcAft>
                <a:spcPts val="700"/>
              </a:spcAft>
              <a:defRPr sz="1000" b="0">
                <a:solidFill>
                  <a:srgbClr val="F1F6FA"/>
                </a:solidFill>
                <a:latin typeface="Aptos"/>
              </a:defRPr>
            </a:pPr>
            <a:r>
              <a:t>Player name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738360" y="3657600"/>
            <a:ext cx="1188720" cy="393192"/>
          </a:xfrm>
          <a:prstGeom prst="rect">
            <a:avLst/>
          </a:prstGeom>
          <a:solidFill>
            <a:srgbClr val="0A121E"/>
          </a:solidFill>
          <a:ln w="12700">
            <a:solidFill>
              <a:srgbClr val="304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65792" y="3712463"/>
            <a:ext cx="1133856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spcAft>
                <a:spcPts val="700"/>
              </a:spcAft>
              <a:defRPr sz="1000" b="0">
                <a:solidFill>
                  <a:srgbClr val="F1F6FA"/>
                </a:solidFill>
                <a:latin typeface="Aptos"/>
              </a:defRPr>
            </a:pPr>
            <a:r>
              <a:t>—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93408" y="4160520"/>
            <a:ext cx="731520" cy="393192"/>
          </a:xfrm>
          <a:prstGeom prst="rect">
            <a:avLst/>
          </a:prstGeom>
          <a:solidFill>
            <a:srgbClr val="0A121E"/>
          </a:solidFill>
          <a:ln w="12700">
            <a:solidFill>
              <a:srgbClr val="304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20840" y="4215383"/>
            <a:ext cx="676656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spcAft>
                <a:spcPts val="700"/>
              </a:spcAft>
              <a:defRPr sz="1000" b="0">
                <a:solidFill>
                  <a:srgbClr val="F1F6FA"/>
                </a:solidFill>
                <a:latin typeface="Aptos"/>
              </a:defRPr>
            </a:pPr>
            <a:r>
              <a:t>2nd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516368" y="4160520"/>
            <a:ext cx="2011680" cy="393192"/>
          </a:xfrm>
          <a:prstGeom prst="rect">
            <a:avLst/>
          </a:prstGeom>
          <a:solidFill>
            <a:srgbClr val="0A121E"/>
          </a:solidFill>
          <a:ln w="12700">
            <a:solidFill>
              <a:srgbClr val="304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43800" y="4215383"/>
            <a:ext cx="1956816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spcAft>
                <a:spcPts val="700"/>
              </a:spcAft>
              <a:defRPr sz="1000" b="0">
                <a:solidFill>
                  <a:srgbClr val="F1F6FA"/>
                </a:solidFill>
                <a:latin typeface="Aptos"/>
              </a:defRPr>
            </a:pPr>
            <a:r>
              <a:t>Player name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738360" y="4160520"/>
            <a:ext cx="1188720" cy="393192"/>
          </a:xfrm>
          <a:prstGeom prst="rect">
            <a:avLst/>
          </a:prstGeom>
          <a:solidFill>
            <a:srgbClr val="0A121E"/>
          </a:solidFill>
          <a:ln w="12700">
            <a:solidFill>
              <a:srgbClr val="304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65792" y="4215383"/>
            <a:ext cx="1133856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spcAft>
                <a:spcPts val="700"/>
              </a:spcAft>
              <a:defRPr sz="1000" b="0">
                <a:solidFill>
                  <a:srgbClr val="F1F6FA"/>
                </a:solidFill>
                <a:latin typeface="Aptos"/>
              </a:defRPr>
            </a:pPr>
            <a:r>
              <a:t>—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93408" y="4663440"/>
            <a:ext cx="731520" cy="393192"/>
          </a:xfrm>
          <a:prstGeom prst="rect">
            <a:avLst/>
          </a:prstGeom>
          <a:solidFill>
            <a:srgbClr val="0A121E"/>
          </a:solidFill>
          <a:ln w="12700">
            <a:solidFill>
              <a:srgbClr val="304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20840" y="4718303"/>
            <a:ext cx="676656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spcAft>
                <a:spcPts val="700"/>
              </a:spcAft>
              <a:defRPr sz="1000" b="0">
                <a:solidFill>
                  <a:srgbClr val="F1F6FA"/>
                </a:solidFill>
                <a:latin typeface="Aptos"/>
              </a:defRPr>
            </a:pPr>
            <a:r>
              <a:t>3rd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516368" y="4663440"/>
            <a:ext cx="2011680" cy="393192"/>
          </a:xfrm>
          <a:prstGeom prst="rect">
            <a:avLst/>
          </a:prstGeom>
          <a:solidFill>
            <a:srgbClr val="0A121E"/>
          </a:solidFill>
          <a:ln w="12700">
            <a:solidFill>
              <a:srgbClr val="304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43800" y="4718303"/>
            <a:ext cx="1956816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spcAft>
                <a:spcPts val="700"/>
              </a:spcAft>
              <a:defRPr sz="1000" b="0">
                <a:solidFill>
                  <a:srgbClr val="F1F6FA"/>
                </a:solidFill>
                <a:latin typeface="Aptos"/>
              </a:defRPr>
            </a:pPr>
            <a:r>
              <a:t>Player name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738360" y="4663440"/>
            <a:ext cx="1188720" cy="393192"/>
          </a:xfrm>
          <a:prstGeom prst="rect">
            <a:avLst/>
          </a:prstGeom>
          <a:solidFill>
            <a:srgbClr val="0A121E"/>
          </a:solidFill>
          <a:ln w="12700">
            <a:solidFill>
              <a:srgbClr val="304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765792" y="4718303"/>
            <a:ext cx="1133856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spcAft>
                <a:spcPts val="700"/>
              </a:spcAft>
              <a:defRPr sz="1000" b="0">
                <a:solidFill>
                  <a:srgbClr val="F1F6FA"/>
                </a:solidFill>
                <a:latin typeface="Aptos"/>
              </a:defRPr>
            </a:pPr>
            <a:r>
              <a:t>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93408" y="5285232"/>
            <a:ext cx="43891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F5BE52"/>
                </a:solidFill>
                <a:latin typeface="Aptos"/>
              </a:defRPr>
            </a:pPr>
            <a:r>
              <a:t>Also show: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35240" y="5266944"/>
            <a:ext cx="342900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AEBECC"/>
                </a:solidFill>
                <a:latin typeface="Aptos"/>
              </a:defRPr>
            </a:pPr>
            <a:r>
              <a:t>Correct answers  •  Completion time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